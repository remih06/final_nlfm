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667763" y="473202"/>
            <a:ext cx="3926681" cy="3921919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823791"/>
            <a:ext cx="7738814" cy="3296241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4484398"/>
            <a:ext cx="6034030" cy="55670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4781759"/>
            <a:ext cx="1747292" cy="261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4781759"/>
            <a:ext cx="1747292" cy="259347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4090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26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805417"/>
            <a:ext cx="6140303" cy="3048470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3869836"/>
            <a:ext cx="5263116" cy="7133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4781759"/>
            <a:ext cx="1120460" cy="261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4781759"/>
            <a:ext cx="3086100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4781759"/>
            <a:ext cx="1115675" cy="259347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51435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54663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714500"/>
            <a:ext cx="3600450" cy="2714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7" y="1714500"/>
            <a:ext cx="3600450" cy="27146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61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9546" y="285750"/>
            <a:ext cx="7629525" cy="11201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9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2181826"/>
            <a:ext cx="3600450" cy="22472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1649725"/>
            <a:ext cx="3600450" cy="4743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425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181826"/>
            <a:ext cx="3600450" cy="22472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186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4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9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342900"/>
            <a:ext cx="2319086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690283"/>
            <a:ext cx="4618814" cy="373884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306002"/>
            <a:ext cx="2319086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4781759"/>
            <a:ext cx="925016" cy="261347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4781759"/>
            <a:ext cx="924342" cy="259347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6191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51434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51435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342900"/>
            <a:ext cx="2319088" cy="897503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425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306002"/>
            <a:ext cx="2319088" cy="312312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900"/>
              </a:spcBef>
              <a:buNone/>
              <a:defRPr sz="12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4781759"/>
            <a:ext cx="924342" cy="261347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4781759"/>
            <a:ext cx="2611634" cy="259347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5676" y="4781759"/>
            <a:ext cx="925830" cy="259347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2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0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9741" y="286790"/>
            <a:ext cx="1119099" cy="420030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286789"/>
            <a:ext cx="6294439" cy="420030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78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286789"/>
            <a:ext cx="7633742" cy="11190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1714501"/>
            <a:ext cx="7633742" cy="2695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4781759"/>
            <a:ext cx="1747292" cy="261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81759"/>
            <a:ext cx="3086100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81759"/>
            <a:ext cx="2114549" cy="2593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8931402" y="0"/>
            <a:ext cx="21259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985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825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Gill Sans MT" panose="020B0502020104020203" pitchFamily="34" charset="0"/>
        <a:buChar char="–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10000"/>
        </a:lnSpc>
        <a:spcBef>
          <a:spcPts val="525"/>
        </a:spcBef>
        <a:buClr>
          <a:schemeClr val="tx2"/>
        </a:buClr>
        <a:buFont typeface="Arial" panose="020B0604020202020204" pitchFamily="34" charset="0"/>
        <a:buChar char="•"/>
        <a:defRPr sz="105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22645"/>
            <a:ext cx="82296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 err="1"/>
              <a:t>Optimización</a:t>
            </a:r>
            <a:r>
              <a:rPr dirty="0"/>
              <a:t> de </a:t>
            </a:r>
            <a:r>
              <a:rPr dirty="0" err="1"/>
              <a:t>Compras</a:t>
            </a:r>
            <a:r>
              <a:rPr dirty="0"/>
              <a:t> Internacionales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15244" y="2385583"/>
            <a:ext cx="39135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0B981"/>
                </a:solidFill>
              </a:defRPr>
            </a:pPr>
            <a:r>
              <a:rPr dirty="0" err="1"/>
              <a:t>Pronóstico</a:t>
            </a:r>
            <a:r>
              <a:rPr dirty="0"/>
              <a:t> de Tipo de Cambi</a:t>
            </a:r>
            <a:r>
              <a:rPr lang="es-MX" dirty="0"/>
              <a:t>o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872513" y="4114800"/>
            <a:ext cx="53989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rPr lang="es-MX" dirty="0" err="1"/>
              <a:t>Remi</a:t>
            </a:r>
            <a:r>
              <a:rPr lang="es-MX" dirty="0"/>
              <a:t> Heredia</a:t>
            </a:r>
            <a:r>
              <a:rPr dirty="0"/>
              <a:t> | </a:t>
            </a:r>
            <a:r>
              <a:rPr dirty="0" err="1"/>
              <a:t>Diciembre</a:t>
            </a:r>
            <a:r>
              <a:rPr dirty="0"/>
              <a:t> 202</a:t>
            </a:r>
            <a:r>
              <a:rPr lang="es-MX" dirty="0"/>
              <a:t>5</a:t>
            </a:r>
            <a:r>
              <a:rPr dirty="0"/>
              <a:t> | </a:t>
            </a:r>
            <a:r>
              <a:rPr dirty="0" err="1"/>
              <a:t>Modelos</a:t>
            </a:r>
            <a:r>
              <a:rPr dirty="0"/>
              <a:t> no </a:t>
            </a:r>
            <a:r>
              <a:rPr dirty="0" err="1"/>
              <a:t>Lineales</a:t>
            </a:r>
            <a:r>
              <a:rPr dirty="0"/>
              <a:t> para </a:t>
            </a:r>
            <a:r>
              <a:rPr dirty="0" err="1"/>
              <a:t>Pronóstico</a:t>
            </a:r>
            <a:r>
              <a:rPr lang="es-MX" dirty="0"/>
              <a:t>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2950" y="202942"/>
            <a:ext cx="80238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rPr dirty="0"/>
              <a:t>El </a:t>
            </a:r>
            <a:r>
              <a:rPr dirty="0" err="1"/>
              <a:t>Problema</a:t>
            </a:r>
            <a:r>
              <a:rPr dirty="0"/>
              <a:t>: </a:t>
            </a:r>
            <a:r>
              <a:rPr dirty="0" err="1"/>
              <a:t>Incertidumbre</a:t>
            </a:r>
            <a:r>
              <a:rPr dirty="0"/>
              <a:t> </a:t>
            </a:r>
            <a:r>
              <a:rPr dirty="0" err="1"/>
              <a:t>Cambiaria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PyMEs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37260" y="1501140"/>
            <a:ext cx="3634740" cy="12420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70%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sz="2400" dirty="0"/>
              <a:t>de las </a:t>
            </a:r>
            <a:r>
              <a:rPr sz="2400" dirty="0" err="1"/>
              <a:t>PyMEs</a:t>
            </a:r>
            <a:r>
              <a:rPr sz="2400" dirty="0"/>
              <a:t> </a:t>
            </a:r>
            <a:r>
              <a:rPr sz="2400" dirty="0" err="1"/>
              <a:t>mexicanas</a:t>
            </a:r>
            <a:r>
              <a:rPr sz="2400" dirty="0"/>
              <a:t> </a:t>
            </a:r>
            <a:r>
              <a:rPr sz="2400" dirty="0" err="1"/>
              <a:t>importan</a:t>
            </a:r>
            <a:r>
              <a:rPr sz="2400" dirty="0"/>
              <a:t> </a:t>
            </a:r>
            <a:r>
              <a:rPr sz="2400" dirty="0" err="1"/>
              <a:t>insumos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937260" y="294894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</a:defRPr>
            </a:pPr>
            <a:r>
              <a:t>📉 Volatilidad del tipo de cambio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</a:defRPr>
            </a:pPr>
            <a:r>
              <a:t>💰 Erosión de márgenes de ganancia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</a:defRPr>
            </a:pPr>
            <a:r>
              <a:t>❓ ¿Cuándo comprar divisas?</a:t>
            </a:r>
          </a:p>
          <a:p>
            <a:pPr>
              <a:spcAft>
                <a:spcPts val="1200"/>
              </a:spcAft>
              <a:defRPr sz="1600">
                <a:solidFill>
                  <a:srgbClr val="323232"/>
                </a:solidFill>
              </a:defRPr>
            </a:pPr>
            <a:r>
              <a:t>🌍 ¿Qué proveedor es más rentable?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0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0" y="1280160"/>
            <a:ext cx="360407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Impacto Real: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Volatilidad</a:t>
            </a:r>
            <a:r>
              <a:rPr dirty="0"/>
              <a:t> 2024: ±15% </a:t>
            </a:r>
            <a:r>
              <a:rPr dirty="0" err="1"/>
              <a:t>en</a:t>
            </a:r>
            <a:r>
              <a:rPr dirty="0"/>
              <a:t> 6 meses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Una </a:t>
            </a:r>
            <a:r>
              <a:rPr dirty="0" err="1"/>
              <a:t>PyME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importa</a:t>
            </a:r>
            <a:r>
              <a:rPr dirty="0"/>
              <a:t> $1M USD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perder</a:t>
            </a:r>
            <a:r>
              <a:rPr dirty="0"/>
              <a:t> hasta $150K MXN </a:t>
            </a:r>
            <a:r>
              <a:rPr dirty="0" err="1"/>
              <a:t>por</a:t>
            </a:r>
            <a:r>
              <a:rPr dirty="0"/>
              <a:t> mal timing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Sin </a:t>
            </a:r>
            <a:r>
              <a:rPr dirty="0" err="1"/>
              <a:t>herramientas</a:t>
            </a:r>
            <a:r>
              <a:rPr dirty="0"/>
              <a:t> de </a:t>
            </a:r>
            <a:r>
              <a:rPr dirty="0" err="1"/>
              <a:t>pronóstico</a:t>
            </a:r>
            <a:r>
              <a:rPr dirty="0"/>
              <a:t>, las </a:t>
            </a:r>
            <a:r>
              <a:rPr dirty="0" err="1"/>
              <a:t>decisiones</a:t>
            </a:r>
            <a:r>
              <a:rPr dirty="0"/>
              <a:t> son </a:t>
            </a:r>
            <a:r>
              <a:rPr dirty="0" err="1"/>
              <a:t>reactivas</a:t>
            </a:r>
            <a:r>
              <a:rPr dirty="0"/>
              <a:t>, no </a:t>
            </a:r>
            <a:r>
              <a:rPr dirty="0" err="1"/>
              <a:t>estratégicas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215771"/>
            <a:ext cx="7848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rPr dirty="0"/>
              <a:t>La </a:t>
            </a:r>
            <a:r>
              <a:rPr dirty="0" err="1"/>
              <a:t>Solución</a:t>
            </a:r>
            <a:r>
              <a:rPr dirty="0"/>
              <a:t>: Sistema </a:t>
            </a:r>
            <a:r>
              <a:rPr dirty="0" err="1"/>
              <a:t>Predictivo</a:t>
            </a:r>
            <a:r>
              <a:rPr dirty="0"/>
              <a:t> </a:t>
            </a:r>
            <a:r>
              <a:rPr dirty="0" err="1"/>
              <a:t>Inteligente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838200" y="1453009"/>
            <a:ext cx="2560320" cy="3474720"/>
          </a:xfrm>
          <a:prstGeom prst="rect">
            <a:avLst/>
          </a:prstGeom>
          <a:solidFill>
            <a:srgbClr val="F0FDF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9640" y="1635889"/>
            <a:ext cx="2377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23232"/>
                </a:solidFill>
              </a:defRPr>
            </a:pPr>
            <a:r>
              <a:t>📊 DATOS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Banxico API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Tipo de cambio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TIIE, UDIS, CETES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2024-2025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350+ observaciones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89960" y="1453009"/>
            <a:ext cx="2560320" cy="3474720"/>
          </a:xfrm>
          <a:prstGeom prst="rect">
            <a:avLst/>
          </a:prstGeom>
          <a:solidFill>
            <a:srgbClr val="F0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581400" y="1635889"/>
            <a:ext cx="2194832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23232"/>
                </a:solidFill>
              </a:defRPr>
            </a:pPr>
            <a:r>
              <a:rPr dirty="0"/>
              <a:t>🤖 MODELO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✓ LSTM 3 </a:t>
            </a:r>
            <a:r>
              <a:rPr dirty="0" err="1"/>
              <a:t>capas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✓ 60 días </a:t>
            </a:r>
            <a:r>
              <a:rPr dirty="0" err="1"/>
              <a:t>históricos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✓ Transformer (</a:t>
            </a:r>
            <a:r>
              <a:rPr dirty="0" err="1"/>
              <a:t>comparación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✓ MAPE: </a:t>
            </a:r>
            <a:r>
              <a:rPr lang="es-MX" dirty="0"/>
              <a:t>43.67</a:t>
            </a:r>
            <a:r>
              <a:rPr dirty="0"/>
              <a:t>%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✓ </a:t>
            </a:r>
            <a:r>
              <a:rPr dirty="0" err="1"/>
              <a:t>Intervalos</a:t>
            </a:r>
            <a:r>
              <a:rPr dirty="0"/>
              <a:t> 50/80/95%</a:t>
            </a:r>
          </a:p>
        </p:txBody>
      </p:sp>
      <p:sp>
        <p:nvSpPr>
          <p:cNvPr id="7" name="Rectangle 6"/>
          <p:cNvSpPr/>
          <p:nvPr/>
        </p:nvSpPr>
        <p:spPr>
          <a:xfrm>
            <a:off x="6141720" y="1453009"/>
            <a:ext cx="2560320" cy="347472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33160" y="1635889"/>
            <a:ext cx="23774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23232"/>
                </a:solidFill>
              </a:defRPr>
            </a:pPr>
            <a:r>
              <a:t>📈 ENTREGABLES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Pronóstico 30 días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3 escenarios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Dashboard interactivo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t>✓ Alertas automáticas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7760" y="274320"/>
            <a:ext cx="7559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rPr dirty="0" err="1"/>
              <a:t>Resultados</a:t>
            </a:r>
            <a:r>
              <a:rPr dirty="0"/>
              <a:t>: </a:t>
            </a:r>
            <a:r>
              <a:rPr dirty="0" err="1"/>
              <a:t>Precisión</a:t>
            </a:r>
            <a:r>
              <a:rPr dirty="0"/>
              <a:t> </a:t>
            </a:r>
            <a:r>
              <a:rPr dirty="0" err="1"/>
              <a:t>Accionable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2088530" y="1097280"/>
            <a:ext cx="234696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88530" y="1188720"/>
            <a:ext cx="2346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s-MX" sz="2800" dirty="0"/>
              <a:t>0.1051 </a:t>
            </a:r>
            <a:r>
              <a:rPr sz="2800" dirty="0"/>
              <a:t>MXN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8530" y="1737360"/>
            <a:ext cx="234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RMSE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0780" y="1097280"/>
            <a:ext cx="234696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50780" y="1188720"/>
            <a:ext cx="2346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lang="es-MX" sz="3600" dirty="0"/>
              <a:t>43.67</a:t>
            </a:r>
            <a:r>
              <a:rPr dirty="0"/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0780" y="1737360"/>
            <a:ext cx="2346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6176" y="2377440"/>
            <a:ext cx="7910623" cy="2468880"/>
          </a:xfrm>
          <a:prstGeom prst="rect">
            <a:avLst/>
          </a:prstGeom>
          <a:solidFill>
            <a:srgbClr val="F9FAFB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4880" y="2560320"/>
            <a:ext cx="7559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💰 Valor de </a:t>
            </a:r>
            <a:r>
              <a:rPr dirty="0" err="1"/>
              <a:t>Negocio</a:t>
            </a:r>
            <a:r>
              <a:rPr dirty="0"/>
              <a:t> Tangible: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Optimización</a:t>
            </a:r>
            <a:r>
              <a:rPr dirty="0"/>
              <a:t> de timing: </a:t>
            </a:r>
            <a:r>
              <a:rPr dirty="0" err="1"/>
              <a:t>Comprar</a:t>
            </a:r>
            <a:r>
              <a:rPr dirty="0"/>
              <a:t> divisas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ventanas</a:t>
            </a:r>
            <a:r>
              <a:rPr dirty="0"/>
              <a:t> </a:t>
            </a:r>
            <a:r>
              <a:rPr dirty="0" err="1"/>
              <a:t>óptimas</a:t>
            </a:r>
            <a:r>
              <a:rPr dirty="0"/>
              <a:t> (±30 días </a:t>
            </a:r>
            <a:r>
              <a:rPr dirty="0" err="1"/>
              <a:t>anticipación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Selección</a:t>
            </a:r>
            <a:r>
              <a:rPr dirty="0"/>
              <a:t> </a:t>
            </a:r>
            <a:r>
              <a:rPr dirty="0" err="1"/>
              <a:t>dinámica</a:t>
            </a:r>
            <a:r>
              <a:rPr dirty="0"/>
              <a:t> de </a:t>
            </a:r>
            <a:r>
              <a:rPr dirty="0" err="1"/>
              <a:t>proveedores</a:t>
            </a:r>
            <a:r>
              <a:rPr dirty="0"/>
              <a:t>: </a:t>
            </a:r>
            <a:r>
              <a:rPr dirty="0" err="1"/>
              <a:t>Elegir</a:t>
            </a:r>
            <a:r>
              <a:rPr dirty="0"/>
              <a:t> </a:t>
            </a:r>
            <a:r>
              <a:rPr dirty="0" err="1"/>
              <a:t>proveedor</a:t>
            </a:r>
            <a:r>
              <a:rPr dirty="0"/>
              <a:t> </a:t>
            </a:r>
            <a:r>
              <a:rPr dirty="0" err="1"/>
              <a:t>según</a:t>
            </a:r>
            <a:r>
              <a:rPr dirty="0"/>
              <a:t> </a:t>
            </a:r>
            <a:r>
              <a:rPr dirty="0" err="1"/>
              <a:t>pronóstico</a:t>
            </a:r>
            <a:r>
              <a:rPr dirty="0"/>
              <a:t> de </a:t>
            </a:r>
            <a:r>
              <a:rPr dirty="0" err="1"/>
              <a:t>su</a:t>
            </a:r>
            <a:r>
              <a:rPr dirty="0"/>
              <a:t> divisa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inteligente</a:t>
            </a:r>
            <a:r>
              <a:rPr dirty="0"/>
              <a:t>: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costos</a:t>
            </a:r>
            <a:r>
              <a:rPr dirty="0"/>
              <a:t> de hedging </a:t>
            </a:r>
            <a:r>
              <a:rPr dirty="0" err="1"/>
              <a:t>innecesario</a:t>
            </a:r>
            <a:r>
              <a:rPr dirty="0"/>
              <a:t> (</a:t>
            </a:r>
            <a:r>
              <a:rPr dirty="0" err="1"/>
              <a:t>ahorrar</a:t>
            </a:r>
            <a:r>
              <a:rPr dirty="0"/>
              <a:t> 2-5% </a:t>
            </a:r>
            <a:r>
              <a:rPr dirty="0" err="1"/>
              <a:t>anual</a:t>
            </a:r>
            <a:r>
              <a:rPr dirty="0"/>
              <a:t>)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- Impacto </a:t>
            </a:r>
            <a:r>
              <a:rPr dirty="0" err="1"/>
              <a:t>estimado</a:t>
            </a:r>
            <a:r>
              <a:rPr dirty="0"/>
              <a:t>: $50K-$200K MXN </a:t>
            </a:r>
            <a:r>
              <a:rPr dirty="0" err="1"/>
              <a:t>anuales</a:t>
            </a:r>
            <a:r>
              <a:rPr dirty="0"/>
              <a:t> para </a:t>
            </a:r>
            <a:r>
              <a:rPr dirty="0" err="1"/>
              <a:t>PyME</a:t>
            </a:r>
            <a:r>
              <a:rPr dirty="0"/>
              <a:t> con $1M USD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importaciones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318" y="0"/>
            <a:ext cx="8604682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4963" y="0"/>
            <a:ext cx="664369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664368" cy="51435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8336" y="482599"/>
            <a:ext cx="7200601" cy="417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40BAD5E-F85E-C1F9-36F7-609454036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140" y="558697"/>
            <a:ext cx="5459123" cy="402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5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0322" y="274320"/>
            <a:ext cx="78764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rPr dirty="0"/>
              <a:t>Caso de Uso: </a:t>
            </a:r>
            <a:r>
              <a:rPr dirty="0" err="1"/>
              <a:t>Estrategia</a:t>
            </a:r>
            <a:r>
              <a:rPr dirty="0"/>
              <a:t> de </a:t>
            </a:r>
            <a:r>
              <a:rPr dirty="0" err="1"/>
              <a:t>Compras</a:t>
            </a:r>
            <a:r>
              <a:rPr dirty="0"/>
              <a:t> Multi-</a:t>
            </a:r>
            <a:r>
              <a:rPr dirty="0" err="1"/>
              <a:t>Proveedor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99893" y="1325223"/>
            <a:ext cx="3657600" cy="1097280"/>
          </a:xfrm>
          <a:prstGeom prst="rect">
            <a:avLst/>
          </a:prstGeom>
          <a:solidFill>
            <a:srgbClr val="F0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2773" y="1416663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rPr dirty="0" err="1"/>
              <a:t>Escenario</a:t>
            </a:r>
            <a:r>
              <a:rPr dirty="0"/>
              <a:t>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rPr dirty="0" err="1"/>
              <a:t>PyME</a:t>
            </a:r>
            <a:r>
              <a:rPr dirty="0"/>
              <a:t> </a:t>
            </a:r>
            <a:r>
              <a:rPr dirty="0" err="1"/>
              <a:t>manufacturera</a:t>
            </a:r>
            <a:r>
              <a:rPr dirty="0"/>
              <a:t> con 3 </a:t>
            </a:r>
            <a:r>
              <a:rPr dirty="0" err="1"/>
              <a:t>proveedores</a:t>
            </a:r>
            <a:r>
              <a:rPr dirty="0"/>
              <a:t>: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rPr dirty="0"/>
              <a:t>🇺🇸 USA (USD) | 🇪🇺 Europa (EUR) | 🇨🇳 China (CNY)</a:t>
            </a:r>
          </a:p>
        </p:txBody>
      </p:sp>
      <p:sp>
        <p:nvSpPr>
          <p:cNvPr id="5" name="Rectangle 4"/>
          <p:cNvSpPr/>
          <p:nvPr/>
        </p:nvSpPr>
        <p:spPr>
          <a:xfrm>
            <a:off x="999893" y="2501590"/>
            <a:ext cx="3657600" cy="2468880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2773" y="2593030"/>
            <a:ext cx="3291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❌ Sin Modelo: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basada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precio</a:t>
            </a:r>
            <a:r>
              <a:rPr dirty="0"/>
              <a:t> actual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reactiva</a:t>
            </a:r>
            <a:r>
              <a:rPr dirty="0"/>
              <a:t> (</a:t>
            </a:r>
            <a:r>
              <a:rPr dirty="0" err="1"/>
              <a:t>cuando</a:t>
            </a:r>
            <a:r>
              <a:rPr dirty="0"/>
              <a:t> se </a:t>
            </a:r>
            <a:r>
              <a:rPr dirty="0" err="1"/>
              <a:t>necesita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- Sin </a:t>
            </a:r>
            <a:r>
              <a:rPr dirty="0" err="1"/>
              <a:t>visibilidad</a:t>
            </a:r>
            <a:r>
              <a:rPr dirty="0"/>
              <a:t> de </a:t>
            </a:r>
            <a:r>
              <a:rPr dirty="0" err="1"/>
              <a:t>tendencias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- </a:t>
            </a:r>
            <a:r>
              <a:rPr dirty="0" err="1"/>
              <a:t>Pérdidas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volatilidad</a:t>
            </a:r>
            <a:r>
              <a:rPr dirty="0"/>
              <a:t>: ~8-12%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61571" y="1325223"/>
            <a:ext cx="3657600" cy="3645247"/>
          </a:xfrm>
          <a:prstGeom prst="rect">
            <a:avLst/>
          </a:prstGeom>
          <a:solidFill>
            <a:srgbClr val="F0FDF4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44451" y="1416663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✅ Con Modelo </a:t>
            </a:r>
            <a:r>
              <a:rPr dirty="0" err="1"/>
              <a:t>Predictivo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1. </a:t>
            </a:r>
            <a:r>
              <a:rPr dirty="0" err="1"/>
              <a:t>Pronóstico</a:t>
            </a:r>
            <a:r>
              <a:rPr dirty="0"/>
              <a:t> 30 días de USD/MXN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2. Si USD </a:t>
            </a:r>
            <a:r>
              <a:rPr dirty="0" err="1"/>
              <a:t>proyecta</a:t>
            </a:r>
            <a:r>
              <a:rPr dirty="0"/>
              <a:t> baja: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   → </a:t>
            </a: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proveedor</a:t>
            </a:r>
            <a:r>
              <a:rPr dirty="0"/>
              <a:t> USA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   → </a:t>
            </a:r>
            <a:r>
              <a:rPr dirty="0" err="1"/>
              <a:t>Anticipar</a:t>
            </a:r>
            <a:r>
              <a:rPr dirty="0"/>
              <a:t> </a:t>
            </a:r>
            <a:r>
              <a:rPr dirty="0" err="1"/>
              <a:t>compra</a:t>
            </a:r>
            <a:r>
              <a:rPr dirty="0"/>
              <a:t> de divisas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3. Si USD </a:t>
            </a:r>
            <a:r>
              <a:rPr dirty="0" err="1"/>
              <a:t>proyecta</a:t>
            </a:r>
            <a:r>
              <a:rPr dirty="0"/>
              <a:t> </a:t>
            </a:r>
            <a:r>
              <a:rPr dirty="0" err="1"/>
              <a:t>alza</a:t>
            </a:r>
            <a:r>
              <a:rPr dirty="0"/>
              <a:t>: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   →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proveedores</a:t>
            </a:r>
            <a:r>
              <a:rPr dirty="0"/>
              <a:t> EUR/CNY</a:t>
            </a:r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   → </a:t>
            </a:r>
            <a:r>
              <a:rPr dirty="0" err="1"/>
              <a:t>Diferir</a:t>
            </a:r>
            <a:r>
              <a:rPr dirty="0"/>
              <a:t> </a:t>
            </a:r>
            <a:r>
              <a:rPr dirty="0" err="1"/>
              <a:t>compra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es </a:t>
            </a:r>
            <a:r>
              <a:rPr dirty="0" err="1"/>
              <a:t>posible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323232"/>
                </a:solidFill>
              </a:defRPr>
            </a:pPr>
            <a:r>
              <a:rPr dirty="0"/>
              <a:t>Ahorro </a:t>
            </a:r>
            <a:r>
              <a:rPr dirty="0" err="1"/>
              <a:t>estimado</a:t>
            </a:r>
            <a:r>
              <a:rPr dirty="0"/>
              <a:t>: 5-8% </a:t>
            </a:r>
            <a:r>
              <a:rPr dirty="0" err="1"/>
              <a:t>anual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3872" y="274320"/>
            <a:ext cx="7712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A8A"/>
                </a:solidFill>
              </a:defRPr>
            </a:pPr>
            <a:r>
              <a:rPr dirty="0" err="1"/>
              <a:t>Implementación</a:t>
            </a:r>
            <a:r>
              <a:rPr dirty="0"/>
              <a:t> y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90992" y="1097280"/>
            <a:ext cx="2560320" cy="3291840"/>
          </a:xfrm>
          <a:prstGeom prst="rect">
            <a:avLst/>
          </a:prstGeom>
          <a:solidFill>
            <a:srgbClr val="10B981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82432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Fase 1: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2432" y="1645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FFFFFF"/>
                </a:solidFill>
              </a:defRPr>
            </a:pPr>
            <a:r>
              <a:t>2-4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3872" y="2103120"/>
            <a:ext cx="21945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• Dashboard </a:t>
            </a:r>
            <a:r>
              <a:rPr dirty="0" err="1"/>
              <a:t>básico</a:t>
            </a:r>
            <a:endParaRPr dirty="0"/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Pronóstico</a:t>
            </a:r>
            <a:r>
              <a:rPr dirty="0"/>
              <a:t> USD/MXN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Alertas</a:t>
            </a:r>
            <a:r>
              <a:rPr dirty="0"/>
              <a:t> email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8736" y="1097280"/>
            <a:ext cx="2560320" cy="3291840"/>
          </a:xfrm>
          <a:prstGeom prst="rect">
            <a:avLst/>
          </a:prstGeom>
          <a:solidFill>
            <a:srgbClr val="F0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50176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Fase 2: 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176" y="1645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1-2 meses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1616" y="2103120"/>
            <a:ext cx="21945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• Multi-divisa (EUR, CNY)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• API integración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• Recomendaciones automáticas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F0F5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Fase 3: IA Avanzada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46464"/>
                </a:solidFill>
              </a:defRPr>
            </a:pPr>
            <a:r>
              <a:t>3-6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1945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• Sentiment analysis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• Eventos geopolíticos</a:t>
            </a:r>
          </a:p>
          <a:p>
            <a:pPr>
              <a:spcAft>
                <a:spcPts val="600"/>
              </a:spcAft>
              <a:defRPr sz="1100">
                <a:solidFill>
                  <a:srgbClr val="323232"/>
                </a:solidFill>
              </a:defRPr>
            </a:pPr>
            <a:r>
              <a:t>• Optimización de portafolio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572000"/>
            <a:ext cx="5902712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🚀 </a:t>
            </a:r>
            <a:r>
              <a:rPr dirty="0" err="1"/>
              <a:t>Comencemos</a:t>
            </a:r>
            <a:r>
              <a:rPr dirty="0"/>
              <a:t> con Fase 1 - ROI </a:t>
            </a:r>
            <a:r>
              <a:rPr dirty="0" err="1"/>
              <a:t>esperado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3-6 meses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126</TotalTime>
  <Words>440</Words>
  <Application>Microsoft Office PowerPoint</Application>
  <PresentationFormat>Presentación en pantalla (16:9)</PresentationFormat>
  <Paragraphs>89</Paragraphs>
  <Slides>7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Impact</vt:lpstr>
      <vt:lpstr>Distintivo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Héctor Heredia</cp:lastModifiedBy>
  <cp:revision>4</cp:revision>
  <dcterms:created xsi:type="dcterms:W3CDTF">2013-01-27T09:14:16Z</dcterms:created>
  <dcterms:modified xsi:type="dcterms:W3CDTF">2025-12-04T00:34:17Z</dcterms:modified>
  <cp:category/>
</cp:coreProperties>
</file>